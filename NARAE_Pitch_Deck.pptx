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548640"/>
            <a:ext cx="1858975" cy="320040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84438"/>
                </a:solidFill>
                <a:latin typeface="Public Sans"/>
              </a:defRPr>
            </a:pPr>
            <a:r>
              <a:t>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858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A7662"/>
                </a:solidFill>
                <a:latin typeface="Public Sans"/>
              </a:defRPr>
            </a:pPr>
            <a:r>
              <a:t>나래</a:t>
            </a:r>
          </a:p>
          <a:p>
            <a:pPr>
              <a:spcBef>
                <a:spcPts val="400"/>
              </a:spcBef>
              <a:defRPr sz="5600" b="1">
                <a:solidFill>
                  <a:srgbClr val="14342C"/>
                </a:solidFill>
                <a:latin typeface="Public Sans"/>
              </a:defRPr>
            </a:pPr>
            <a:r>
              <a:t>Narae. ↗</a:t>
            </a:r>
          </a:p>
          <a:p>
            <a:pPr>
              <a:spcBef>
                <a:spcPts val="1400"/>
              </a:spcBef>
              <a:defRPr sz="2200" b="1">
                <a:solidFill>
                  <a:srgbClr val="204A40"/>
                </a:solidFill>
                <a:latin typeface="Public Sans"/>
              </a:defRPr>
            </a:pPr>
            <a:r>
              <a:t>A Little Help, A Life More Independent.</a:t>
            </a:r>
          </a:p>
          <a:p>
            <a:pPr>
              <a:spcBef>
                <a:spcPts val="800"/>
              </a:spcBef>
              <a:defRPr sz="1200">
                <a:solidFill>
                  <a:srgbClr val="60746D"/>
                </a:solidFill>
                <a:latin typeface="Public Sans"/>
              </a:defRPr>
            </a:pPr>
            <a:r>
              <a:t>Smart Caregiver &amp; Wearable Companion berbasis AI (Google Gemini Function Calling) untuk penderita demensia tahap awal dan perawat yang mendampinginya.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480560"/>
            <a:ext cx="1920240" cy="320040"/>
          </a:xfrm>
          <a:prstGeom prst="roundRect">
            <a:avLst/>
          </a:prstGeom>
          <a:solidFill>
            <a:srgbClr val="F2F7F4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04A40"/>
                </a:solidFill>
                <a:latin typeface="Public Sans"/>
              </a:defRPr>
            </a:pPr>
            <a:r>
              <a:t>3D Smartband Simulator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61488" y="4480560"/>
            <a:ext cx="1920240" cy="320040"/>
          </a:xfrm>
          <a:prstGeom prst="roundRect">
            <a:avLst/>
          </a:prstGeom>
          <a:solidFill>
            <a:srgbClr val="F2F7F4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04A40"/>
                </a:solidFill>
                <a:latin typeface="Public Sans"/>
              </a:defRPr>
            </a:pPr>
            <a:r>
              <a:t>Gemini Function Calling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91456" y="4480560"/>
            <a:ext cx="1920240" cy="320040"/>
          </a:xfrm>
          <a:prstGeom prst="roundRect">
            <a:avLst/>
          </a:prstGeom>
          <a:solidFill>
            <a:srgbClr val="F2F7F4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04A40"/>
                </a:solidFill>
                <a:latin typeface="Public Sans"/>
              </a:defRPr>
            </a:pPr>
            <a:r>
              <a:t>Centralized Command Hub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21424" y="4480560"/>
            <a:ext cx="1600200" cy="320040"/>
          </a:xfrm>
          <a:prstGeom prst="roundRect">
            <a:avLst/>
          </a:prstGeom>
          <a:solidFill>
            <a:srgbClr val="F2F7F4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04A40"/>
                </a:solidFill>
                <a:latin typeface="Public Sans"/>
              </a:defRPr>
            </a:pPr>
            <a:r>
              <a:t>Multi-Tenant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188720"/>
            <a:ext cx="3687775" cy="361188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900" b="1">
                <a:solidFill>
                  <a:srgbClr val="2A7662"/>
                </a:solidFill>
                <a:latin typeface="Public Sans"/>
              </a:defRPr>
            </a:pPr>
            <a:r>
              <a:t>KONSEPSI SISTEM NARAE</a:t>
            </a:r>
          </a:p>
          <a:p>
            <a:pPr>
              <a:spcBef>
                <a:spcPts val="400"/>
              </a:spcBef>
              <a:defRPr sz="1600" b="1">
                <a:solidFill>
                  <a:srgbClr val="14342C"/>
                </a:solidFill>
                <a:latin typeface="Public Sans"/>
              </a:defRPr>
            </a:pPr>
            <a:r>
              <a:t>Solusi Dua Sisi Real-Time</a:t>
            </a:r>
          </a:p>
          <a:p>
            <a:pPr>
              <a:spcBef>
                <a:spcPts val="800"/>
              </a:spcBef>
              <a:defRPr sz="1100" b="1">
                <a:solidFill>
                  <a:srgbClr val="204A40"/>
                </a:solidFill>
                <a:latin typeface="Public Sans"/>
              </a:defRPr>
            </a:pPr>
            <a:r>
              <a:t>• Gelang Taktil Mandiri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2 tombol fisik khusus (Jadwal &amp; Bantuan), audio pengingat lokal offline-first, tanpa layar rumit.</a:t>
            </a:r>
          </a:p>
          <a:p>
            <a:pPr>
              <a:spcBef>
                <a:spcPts val="800"/>
              </a:spcBef>
              <a:defRPr sz="1100" b="1">
                <a:solidFill>
                  <a:srgbClr val="204A40"/>
                </a:solidFill>
                <a:latin typeface="Public Sans"/>
              </a:defRPr>
            </a:pPr>
            <a:r>
              <a:t>• AI Contextual Companion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Gemini 2.0 Flash dengan Function Calling, closed-world, tanpa diagnosis medis, respon ringkas 1-2 kalimat.</a:t>
            </a:r>
          </a:p>
          <a:p>
            <a:pPr>
              <a:spcBef>
                <a:spcPts val="800"/>
              </a:spcBef>
              <a:defRPr sz="1100" b="1">
                <a:solidFill>
                  <a:srgbClr val="204A40"/>
                </a:solidFill>
                <a:latin typeface="Public Sans"/>
              </a:defRPr>
            </a:pPr>
            <a:r>
              <a:t>• Caregiver Command Center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Monitoring multi-pasien, deteksi bentrok jadwal, konfirmasi laporan 1-klik, auto-eskalasi 10 detik.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14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64592"/>
          <a:lstStyle/>
          <a:p>
            <a:pPr algn="ctr">
              <a:defRPr sz="850" b="1">
                <a:solidFill>
                  <a:srgbClr val="A0CDC3"/>
                </a:solidFill>
                <a:latin typeface="Public Sans"/>
              </a:defRPr>
            </a:pPr>
            <a:r>
              <a:t>PREPARED BY :</a:t>
            </a:r>
          </a:p>
          <a:p>
            <a:pPr>
              <a:defRPr sz="1600" b="1">
                <a:solidFill>
                  <a:srgbClr val="FFFFFF"/>
                </a:solidFill>
                <a:latin typeface="Public Sans"/>
              </a:defRPr>
            </a:pPr>
            <a:r>
              <a:t>Tim Mi Ayam Kopma</a:t>
            </a:r>
          </a:p>
          <a:p>
            <a:pPr>
              <a:spcBef>
                <a:spcPts val="200"/>
              </a:spcBef>
              <a:defRPr sz="1000">
                <a:solidFill>
                  <a:srgbClr val="D7EBE6"/>
                </a:solidFill>
                <a:latin typeface="Public Sans"/>
              </a:defRPr>
            </a:pPr>
            <a:r>
              <a:t>Radhitya Rasta Pramoja (UI/UX)  ·  Nicolaus Narindra (Front-End &amp; 3D)  ·  Michael Bintang Febryan S.J (Back-End &amp; 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07492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A0CDC3"/>
                </a:solidFill>
                <a:latin typeface="Public Sans"/>
              </a:defRPr>
            </a:pPr>
            <a:r>
              <a:t>PREPARED FOR :</a:t>
            </a:r>
          </a:p>
          <a:p>
            <a:pPr>
              <a:defRPr sz="1600" b="1">
                <a:solidFill>
                  <a:srgbClr val="FFFFFF"/>
                </a:solidFill>
                <a:latin typeface="Public Sans"/>
              </a:defRPr>
            </a:pPr>
            <a:r>
              <a:t>INCEPTION 2026</a:t>
            </a:r>
          </a:p>
          <a:p>
            <a:pPr>
              <a:spcBef>
                <a:spcPts val="200"/>
              </a:spcBef>
              <a:defRPr sz="1000">
                <a:solidFill>
                  <a:srgbClr val="D7EBE6"/>
                </a:solidFill>
                <a:latin typeface="Public Sans"/>
              </a:defRPr>
            </a:pPr>
            <a:r>
              <a:t>Hacking Day 24 Jam · Kategori AI &amp; IoT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01 / LATAR BELAKANG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The Problem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Krisis pendampingan demensia tahap awal: beban kognitif pasien dan keterbatasan rasio caregiver.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105156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/>
          <a:lstStyle/>
          <a:p>
            <a:pPr algn="ctr"/>
            <a:r>
              <a:rPr sz="2400" b="1">
                <a:solidFill>
                  <a:srgbClr val="14342C"/>
                </a:solidFill>
                <a:latin typeface="Public Sans"/>
              </a:rPr>
              <a:t>139 JUTA ORANG  </a:t>
            </a:r>
            <a:r>
              <a:rPr sz="1200" b="1">
                <a:solidFill>
                  <a:srgbClr val="204A40"/>
                </a:solidFill>
                <a:latin typeface="Public Sans"/>
              </a:rPr>
              <a:t>diproyeksikan hidup dengan demensia pada tahun 2050 (World Alzheimer Report &amp; WHO).</a:t>
            </a:r>
          </a:p>
          <a:p>
            <a:pPr>
              <a:spcBef>
                <a:spcPts val="400"/>
              </a:spcBef>
              <a:defRPr sz="1000">
                <a:solidFill>
                  <a:srgbClr val="60746D"/>
                </a:solidFill>
                <a:latin typeface="Public Sans"/>
              </a:defRPr>
            </a:pPr>
            <a:r>
              <a:t>Di Indonesia, lebih dari 70% perawatan bertumpu pada caregiver keluarga dan perawat panti dengan dukungan fasilitas terbatas. Kesenjangan rasio perawat dan pasien memicu kejenuhan fisik/mental (caregiver burden) dan risiko kelalaian fatal pada pasien lansia.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52303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02920"/>
          <a:lstStyle/>
          <a:p>
            <a:pPr algn="ctr">
              <a:spcBef>
                <a:spcPts val="800"/>
              </a:spcBef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• Lupa Jadwal Rutin &amp; Pengobatan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Kesulitan mengingat waktu minum obat, makan, atau terapi harian. Keterlambatan atau kelebihan dosis menimbulkan risiko medis serius.</a:t>
            </a:r>
          </a:p>
          <a:p>
            <a:pPr>
              <a:spcBef>
                <a:spcPts val="800"/>
              </a:spcBef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• Disorientasi Waktu &amp; Barang Pribadi Hilang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Sering bingung hari/jam berapa saat ini dan panik saat kacamata atau dompet tidak ditemukan di tempat biasanya.</a:t>
            </a:r>
          </a:p>
          <a:p>
            <a:pPr>
              <a:spcBef>
                <a:spcPts val="800"/>
              </a:spcBef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• Penurunan Kemandirian &amp; Rasa Bersalah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Merasa tidak berdaya dan tertekan karena harus berulang kali bertanya kepada perawat, memicu kecemasan dan isolasi sosial.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017520"/>
            <a:ext cx="2011680" cy="274320"/>
          </a:xfrm>
          <a:prstGeom prst="roundRect">
            <a:avLst/>
          </a:prstGeom>
          <a:solidFill>
            <a:srgbClr val="FE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CC4C38"/>
                </a:solidFill>
                <a:latin typeface="Public Sans"/>
              </a:defRPr>
            </a:pPr>
            <a:r>
              <a:t>SISI PASIEN (LANSIA / ODD)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2880360"/>
            <a:ext cx="5230368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02920"/>
          <a:lstStyle/>
          <a:p>
            <a:pPr algn="ctr">
              <a:spcBef>
                <a:spcPts val="800"/>
              </a:spcBef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• Rasio Pasien Tidak Seimbang (1 : Banyak)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Satu perawat umumnya mengasuh 3–10 lansia sekaligus dalam satu shift kerja, membuat pengawasan terus-menerus mustahil dilakukan.</a:t>
            </a:r>
          </a:p>
          <a:p>
            <a:pPr>
              <a:spcBef>
                <a:spcPts val="800"/>
              </a:spcBef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• Repetitive Verbal Burden (Kelelahan Fisik)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Menghabiskan energi luar biasa untuk menjawab pertanyaan yang sama berulang kali dan mengingatkan jadwal secara manual setiap saat.</a:t>
            </a:r>
          </a:p>
          <a:p>
            <a:pPr>
              <a:spcBef>
                <a:spcPts val="800"/>
              </a:spcBef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• Ketiadaan Sistem Eskalasi &amp; Tracking Otomatis</a:t>
            </a:r>
          </a:p>
          <a:p>
            <a:pPr>
              <a:spcBef>
                <a:spcPts val="2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  Sulit mengetahui apakah pasien benar-benar telah meminum obatnya, dan tidak ada sistem peringatan dini ketika jadwal terlewat (missed).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3017520"/>
            <a:ext cx="2011680" cy="274320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SISI CAREGIVER &amp; PERAWAT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02 / NILAI UTAMA &amp; SOLUSI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Our Solution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NARAE menghadirkan ekosistem pendamping memori cerdas: Wearable Taktil + AI Terpandu + Caregiver 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77724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2A7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“NARAE menjembatani kebutuhan pasien akan kemandirian dengan kebutuhan perawat akan sistem pemantauan yang efisien dan andal. Mengubah pengasuhan pasif menjadi kemandirian yang didukung teknologi empatik.”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339242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02920"/>
          <a:lstStyle/>
          <a:p>
            <a:pPr algn="ctr">
              <a:defRPr sz="1400" b="1">
                <a:solidFill>
                  <a:srgbClr val="14342C"/>
                </a:solidFill>
                <a:latin typeface="Public Sans"/>
              </a:defRPr>
            </a:pPr>
            <a:r>
              <a:t>Smartband Offline-First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Dual-Button Taktil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Hanya 2 tombol fisik: Jadwal (Biru) &amp; Bantuan (Merah). Bebas layar sentuh rumit yang membingungkan.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Keandalan Mandiri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Pengingat dan alarm getar/suara aktif mandiri secara lokal walau koneksi Wi-Fi terputus.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Respon Instan (≤0.1s)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Tekan 1x memutar tugas berikutnya dari memori lokal tanpa jeda jaringan.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Indikator LED 3-Warna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Status visual sederhana: Berhasil terkirim, Memproses, atau Gangguan koneksi.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743200"/>
            <a:ext cx="2011680" cy="256032"/>
          </a:xfrm>
          <a:prstGeom prst="round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4342C"/>
                </a:solidFill>
                <a:latin typeface="Public Sans"/>
              </a:defRPr>
            </a:pPr>
            <a:r>
              <a:t>01 / WEARABLE TAKTIL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2606040"/>
            <a:ext cx="339242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02920"/>
          <a:lstStyle/>
          <a:p>
            <a:pPr algn="ctr">
              <a:defRPr sz="1400" b="1">
                <a:solidFill>
                  <a:srgbClr val="14342C"/>
                </a:solidFill>
                <a:latin typeface="Public Sans"/>
              </a:defRPr>
            </a:pPr>
            <a:r>
              <a:t>Gemini Function Calling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Closed-World &amp; Zero Halusinasi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AI hanya menjawab dari data 6 tools terverifikasi dan konteks JIT perawat. Tidak mengarang fakta.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Strict Medical Guardrails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Dilarang memberi saran medis atau dosis obat. Pasien selalu diarahkan ke perawat pendamping.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Percakapan Multi-Turn Alami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Mendengarkan kembali setelah menjawab sampai pasien berpamitan atau jeda hening.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Jawaban Ramah &amp; Ringkas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Dibatasi maksimal 1–2 kalimat dalam bahasa Indonesia polos (TTS-ready) agar mudah dicerna.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81144" y="2743200"/>
            <a:ext cx="2194560" cy="256032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02 / AI COMPANION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2606040"/>
            <a:ext cx="3392424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02920"/>
          <a:lstStyle/>
          <a:p>
            <a:pPr algn="ctr">
              <a:defRPr sz="1400" b="1">
                <a:solidFill>
                  <a:srgbClr val="14342C"/>
                </a:solidFill>
                <a:latin typeface="Public Sans"/>
              </a:defRPr>
            </a:pPr>
            <a:r>
              <a:t>Command Center Terpusat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Monitoring Multi-Pasien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Pantau status jadwal, status baterai gelang, dan lokasi barang banyak pasien sekaligus.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Deteksi Bentrok Jadwal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Algoritma otomatis mendeteksi tumpang tindih waktu kegiatan dengan opsi geser/nonaktifkan.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Verifikasi Human-in-the-Loop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Klaim 'selesai' dari suara pasien menunggu konfirmasi perawat sebelum masuk status resmi.</a:t>
            </a:r>
          </a:p>
          <a:p>
            <a:pPr>
              <a:spcBef>
                <a:spcPts val="600"/>
              </a:spcBef>
              <a:defRPr sz="1000" b="1">
                <a:solidFill>
                  <a:srgbClr val="204A40"/>
                </a:solidFill>
                <a:latin typeface="Public Sans"/>
              </a:defRPr>
            </a:pPr>
            <a:r>
              <a:t>• 10s Auto-Escalation Darurat</a:t>
            </a:r>
          </a:p>
          <a:p>
            <a:pPr>
              <a:spcBef>
                <a:spcPts val="1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  Panggilan bantuan yang tidak direspons dalam 10 detik otomatis dieskalasi ke tim perawat cadangan.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2743200"/>
            <a:ext cx="2194560" cy="256032"/>
          </a:xfrm>
          <a:prstGeom prst="round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4342C"/>
                </a:solidFill>
                <a:latin typeface="Public Sans"/>
              </a:defRPr>
            </a:pPr>
            <a:r>
              <a:t>03 / CAREGIVER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03 / EKOSISTEM PRODUK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Product Overview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Harmoni dua antarmuka yang terhubung secara real-time: Smartband Pasien &amp; Dashboard Perawat.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2377440" cy="256032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SISI PASIEN: SMARTBAND TAKTIL</a:t>
            </a:r>
          </a:p>
        </p:txBody>
      </p:sp>
      <p:pic>
        <p:nvPicPr>
          <p:cNvPr id="8" name="Picture 7" descr="smartban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94560"/>
            <a:ext cx="4773168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4297680"/>
            <a:ext cx="4773168" cy="1508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Bef>
                <a:spcPts val="300"/>
              </a:spcBef>
            </a:pPr>
            <a:r>
              <a:rPr sz="950" b="1">
                <a:solidFill>
                  <a:srgbClr val="14342C"/>
                </a:solidFill>
                <a:latin typeface="Public Sans"/>
              </a:rPr>
              <a:t>• Tombol Jadwal (Biru): </a:t>
            </a:r>
            <a:r>
              <a:rPr sz="900">
                <a:solidFill>
                  <a:srgbClr val="60746D"/>
                </a:solidFill>
                <a:latin typeface="Public Sans"/>
              </a:rPr>
              <a:t>1× tekan memutar tugas berikutnya (&lt;0.1s, lokal offline). Tekan lagi untuk mengulang.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4342C"/>
                </a:solidFill>
                <a:latin typeface="Public Sans"/>
              </a:rPr>
              <a:t>• Tombol Bantuan (Merah): </a:t>
            </a:r>
            <a:r>
              <a:rPr sz="900">
                <a:solidFill>
                  <a:srgbClr val="60746D"/>
                </a:solidFill>
                <a:latin typeface="Public Sans"/>
              </a:rPr>
              <a:t>1× tekan mengaktifkan Help Mode suara AI &amp; penawaran bantuan terpandu.</a:t>
            </a:r>
          </a:p>
          <a:p>
            <a:pPr>
              <a:spcBef>
                <a:spcPts val="300"/>
              </a:spcBef>
            </a:pPr>
            <a:r>
              <a:rPr sz="950" b="1">
                <a:solidFill>
                  <a:srgbClr val="14342C"/>
                </a:solidFill>
                <a:latin typeface="Public Sans"/>
              </a:rPr>
              <a:t>• Spesifikasi Ergonomis: </a:t>
            </a:r>
            <a:r>
              <a:rPr sz="900">
                <a:solidFill>
                  <a:srgbClr val="60746D"/>
                </a:solidFill>
                <a:latin typeface="Public Sans"/>
              </a:rPr>
              <a:t>Casing 54×74 mm, strap silikon lembut 24 mm, LED status 3 warna, speaker empati, dan mikrofon terarah.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691640"/>
            <a:ext cx="52303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502920"/>
          <a:lstStyle/>
          <a:p>
            <a:pPr algn="ctr">
              <a:spcBef>
                <a:spcPts val="800"/>
              </a:spcBef>
              <a:defRPr sz="1050" b="1">
                <a:solidFill>
                  <a:srgbClr val="14342C"/>
                </a:solidFill>
                <a:latin typeface="Public Sans"/>
              </a:defRPr>
            </a:pPr>
            <a:r>
              <a:t>• Timeline Kegiatan Real-Time</a:t>
            </a:r>
          </a:p>
          <a:p>
            <a:pPr>
              <a:spcBef>
                <a:spcPts val="200"/>
              </a:spcBef>
              <a:defRPr sz="919">
                <a:solidFill>
                  <a:srgbClr val="60746D"/>
                </a:solidFill>
                <a:latin typeface="Public Sans"/>
              </a:defRPr>
            </a:pPr>
            <a:r>
              <a:t>  Visualisasi jadwal harian dengan dot warna status otomatis: Nanti (Scheduled), Proses (Played), Butuh Persetujuan (Reported), Selesai (Confirmed), dan Terlewat (Missed).</a:t>
            </a:r>
          </a:p>
          <a:p>
            <a:pPr>
              <a:spcBef>
                <a:spcPts val="800"/>
              </a:spcBef>
              <a:defRPr sz="1050" b="1">
                <a:solidFill>
                  <a:srgbClr val="14342C"/>
                </a:solidFill>
                <a:latin typeface="Public Sans"/>
              </a:defRPr>
            </a:pPr>
            <a:r>
              <a:t>• Manajemen Inventori Barang (Item Tracker)</a:t>
            </a:r>
          </a:p>
          <a:p>
            <a:pPr>
              <a:spcBef>
                <a:spcPts val="200"/>
              </a:spcBef>
              <a:defRPr sz="919">
                <a:solidFill>
                  <a:srgbClr val="60746D"/>
                </a:solidFill>
                <a:latin typeface="Public Sans"/>
              </a:defRPr>
            </a:pPr>
            <a:r>
              <a:t>  Mencatat lokasi terakhir (last location) dan lokasi default barang pribadi pasien (kacamata, dompet, tongkat) yang dapat ditanyakan pasien ke AI secara langsung.</a:t>
            </a:r>
          </a:p>
          <a:p>
            <a:pPr>
              <a:spcBef>
                <a:spcPts val="800"/>
              </a:spcBef>
              <a:defRPr sz="1050" b="1">
                <a:solidFill>
                  <a:srgbClr val="14342C"/>
                </a:solidFill>
                <a:latin typeface="Public Sans"/>
              </a:defRPr>
            </a:pPr>
            <a:r>
              <a:t>• Antrean Panggilan Bantuan &amp; SLA 10 Detik</a:t>
            </a:r>
          </a:p>
          <a:p>
            <a:pPr>
              <a:spcBef>
                <a:spcPts val="200"/>
              </a:spcBef>
              <a:defRPr sz="919">
                <a:solidFill>
                  <a:srgbClr val="60746D"/>
                </a:solidFill>
                <a:latin typeface="Public Sans"/>
              </a:defRPr>
            </a:pPr>
            <a:r>
              <a:t>  Panggilan darurat berstatus PENDING dengan hitung mundur respon 10 detik. Jika perawat tidak merespons, tiket otomatis EXPIRED dan dieskalasi.</a:t>
            </a:r>
          </a:p>
          <a:p>
            <a:pPr>
              <a:spcBef>
                <a:spcPts val="800"/>
              </a:spcBef>
              <a:defRPr sz="1050" b="1">
                <a:solidFill>
                  <a:srgbClr val="14342C"/>
                </a:solidFill>
                <a:latin typeface="Public Sans"/>
              </a:defRPr>
            </a:pPr>
            <a:r>
              <a:t>• Multi-Patient Switcher &amp; Audit Trail</a:t>
            </a:r>
          </a:p>
          <a:p>
            <a:pPr>
              <a:spcBef>
                <a:spcPts val="200"/>
              </a:spcBef>
              <a:defRPr sz="919">
                <a:solidFill>
                  <a:srgbClr val="60746D"/>
                </a:solidFill>
                <a:latin typeface="Public Sans"/>
              </a:defRPr>
            </a:pPr>
            <a:r>
              <a:t>  Mendukung rasio 1 perawat : banyak pasien secara dinamis (Pak Arthur, Ibu Odette, Ibu Siti) lengkap dengan rekaman riwayat interaksi AI dan riwayat tugas.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1828800"/>
            <a:ext cx="2743200" cy="256032"/>
          </a:xfrm>
          <a:prstGeom prst="round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4342C"/>
                </a:solidFill>
                <a:latin typeface="Public Sans"/>
              </a:defRPr>
            </a:pPr>
            <a:r>
              <a:t>SISI PERAWAT: CAREGIVER COMMAND CENTER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6035040"/>
            <a:ext cx="10728655" cy="411480"/>
          </a:xfrm>
          <a:prstGeom prst="roundRect">
            <a:avLst/>
          </a:prstGeom>
          <a:solidFill>
            <a:srgbClr val="14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Public Sans"/>
              </a:defRPr>
            </a:pPr>
            <a:r>
              <a:t>Human-in-the-Loop: Pasien melapor via suara AI · Sistem mencatat ke audit trail · Perawat mengonfirmasi keputusan akhir.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04 / ALUR KERJA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How It Works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Alur interaksi seamless dari konfigurasi perawat, pengingat gelang, penalaran AI, hingga verifikasi.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2029968" cy="3749039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2800" b="1">
                <a:solidFill>
                  <a:srgbClr val="14342C"/>
                </a:solidFill>
                <a:latin typeface="Public Sans"/>
              </a:defRPr>
            </a:pPr>
            <a:r>
              <a:t>01</a:t>
            </a:r>
          </a:p>
          <a:p>
            <a:pPr>
              <a:spcBef>
                <a:spcPts val="200"/>
              </a:spcBef>
              <a:defRPr sz="850" b="1">
                <a:solidFill>
                  <a:srgbClr val="14342C"/>
                </a:solidFill>
                <a:latin typeface="Public Sans"/>
              </a:defRPr>
            </a:pPr>
            <a:r>
              <a:t>PERAWAT</a:t>
            </a:r>
          </a:p>
          <a:p>
            <a:pPr>
              <a:spcBef>
                <a:spcPts val="8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Setup Jadwal &amp; Inventori</a:t>
            </a:r>
          </a:p>
          <a:p>
            <a:pPr>
              <a:spcBef>
                <a:spcPts val="6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Perawat mengatur jadwal rutin/sekali jalan &amp; lokasi barang pasien di dashboard web/mobile.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691640"/>
            <a:ext cx="2029968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2800" b="1">
                <a:solidFill>
                  <a:srgbClr val="204A40"/>
                </a:solidFill>
                <a:latin typeface="Public Sans"/>
              </a:defRPr>
            </a:pPr>
            <a:r>
              <a:t>02</a:t>
            </a:r>
          </a:p>
          <a:p>
            <a:pPr>
              <a:spcBef>
                <a:spcPts val="200"/>
              </a:spcBef>
              <a:defRPr sz="850" b="1">
                <a:solidFill>
                  <a:srgbClr val="204A40"/>
                </a:solidFill>
                <a:latin typeface="Public Sans"/>
              </a:defRPr>
            </a:pPr>
            <a:r>
              <a:t>GELANG</a:t>
            </a:r>
          </a:p>
          <a:p>
            <a:pPr>
              <a:spcBef>
                <a:spcPts val="8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Pengingat Otomatis</a:t>
            </a:r>
          </a:p>
          <a:p>
            <a:pPr>
              <a:spcBef>
                <a:spcPts val="6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Alarm getar &amp; instruksi suara berbunyi tepat waktu sesuai zona waktu WIB secara lokal (offline-safe).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691640"/>
            <a:ext cx="2029968" cy="3749039"/>
          </a:xfrm>
          <a:prstGeom prst="roundRect">
            <a:avLst/>
          </a:prstGeom>
          <a:solidFill>
            <a:srgbClr val="FEF2E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2800" b="1">
                <a:solidFill>
                  <a:srgbClr val="CC4C38"/>
                </a:solidFill>
                <a:latin typeface="Public Sans"/>
              </a:defRPr>
            </a:pPr>
            <a:r>
              <a:t>03</a:t>
            </a:r>
          </a:p>
          <a:p>
            <a:pPr>
              <a:spcBef>
                <a:spcPts val="200"/>
              </a:spcBef>
              <a:defRPr sz="850" b="1">
                <a:solidFill>
                  <a:srgbClr val="CC4C38"/>
                </a:solidFill>
                <a:latin typeface="Public Sans"/>
              </a:defRPr>
            </a:pPr>
            <a:r>
              <a:t>PASIEN</a:t>
            </a:r>
          </a:p>
          <a:p>
            <a:pPr>
              <a:spcBef>
                <a:spcPts val="8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Interaksi Taktil Suara</a:t>
            </a:r>
          </a:p>
          <a:p>
            <a:pPr>
              <a:spcBef>
                <a:spcPts val="6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Pasien menekan tombol Bantuan: 'Kacamata saya di mana?' atau 'Saya sudah minum obat'.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2904" y="1691640"/>
            <a:ext cx="2029968" cy="3749039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2800" b="1">
                <a:solidFill>
                  <a:srgbClr val="184438"/>
                </a:solidFill>
                <a:latin typeface="Public Sans"/>
              </a:defRPr>
            </a:pPr>
            <a:r>
              <a:t>04</a:t>
            </a:r>
          </a:p>
          <a:p>
            <a:pPr>
              <a:spcBef>
                <a:spcPts val="200"/>
              </a:spcBef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AI CORE</a:t>
            </a:r>
          </a:p>
          <a:p>
            <a:pPr>
              <a:spcBef>
                <a:spcPts val="8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Gemini Function Calling</a:t>
            </a:r>
          </a:p>
          <a:p>
            <a:pPr>
              <a:spcBef>
                <a:spcPts val="6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AI memanggil tool spesifik (closed-world) &amp; merangkai jawaban ramah TTS Indonesia (1–2 kalimat).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1691640"/>
            <a:ext cx="2029968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82880"/>
          <a:lstStyle/>
          <a:p>
            <a:pPr algn="ctr">
              <a:defRPr sz="2800" b="1">
                <a:solidFill>
                  <a:srgbClr val="14342C"/>
                </a:solidFill>
                <a:latin typeface="Public Sans"/>
              </a:defRPr>
            </a:pPr>
            <a:r>
              <a:t>05</a:t>
            </a:r>
          </a:p>
          <a:p>
            <a:pPr>
              <a:spcBef>
                <a:spcPts val="200"/>
              </a:spcBef>
              <a:defRPr sz="850" b="1">
                <a:solidFill>
                  <a:srgbClr val="14342C"/>
                </a:solidFill>
                <a:latin typeface="Public Sans"/>
              </a:defRPr>
            </a:pPr>
            <a:r>
              <a:t>COMMAND</a:t>
            </a:r>
          </a:p>
          <a:p>
            <a:pPr>
              <a:spcBef>
                <a:spcPts val="8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Validasi &amp; Eskalasi Cepat</a:t>
            </a:r>
          </a:p>
          <a:p>
            <a:pPr>
              <a:spcBef>
                <a:spcPts val="6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Laporan masuk ke status 'Butuh Persetujuan'. Panggilan darurat ditangani dengan SLA 10 detik.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86868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/>
            <a:r>
              <a:rPr sz="1050" b="1">
                <a:solidFill>
                  <a:srgbClr val="14342C"/>
                </a:solidFill>
                <a:latin typeface="Public Sans"/>
              </a:rPr>
              <a:t>Siklus Percakapan Multi-Turn &amp; Text-to-Speech Cerdas: </a:t>
            </a:r>
            <a:r>
              <a:rPr sz="1000">
                <a:solidFill>
                  <a:srgbClr val="182621"/>
                </a:solidFill>
                <a:latin typeface="Public Sans"/>
              </a:rPr>
              <a:t>Setelah gelang menjawab, asisten AI otomatis mendengarkan kelanjutan ucapan pasien sampai pasien mengucapkan kata selesai (misal: 'terima kasih' / 'cukup') atau hening sejenak.</a:t>
            </a:r>
          </a:p>
          <a:p>
            <a:pPr>
              <a:spcBef>
                <a:spcPts val="3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Pemrosesan audio memanfaatkan Web Speech API (id-ID) dengan pemilihan suara Indonesia terbaik di browser pengguna secara otomatis.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05 / FITUR UNGGULAN &amp; 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Key Features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Empat pilar keunggulan teknis yang telah diimplementasikan konkret pada repositori kode NARAE.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3036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Simulasi Perangkat Fisik (Three.js Engine)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Model 3D prosedural lengkap: tombol Bantuan (merah), Jadwal (biru), LED 3-warna, speaker, &amp; mic.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OrbitControls interaktif: rotasi kamera 360°, zoom, reset sudut depan/atas, &amp; auto-rotation.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Mode Exploded View (Pecah Komponen) untuk inspeksi struktur arsitektur internal perangkat keras.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Web Speech API (STT &amp; TTS id-ID) terintegrasi langsung pada aksi klik tombol 3D.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377440" cy="256032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01 / 3D BRACELET SIMULATOR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691640"/>
            <a:ext cx="523036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Google Gemini Function Calling Loop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6 Tools Modular: get_patient_tasks, get_current_datetime, get_belongings, get_belongings_summary, report_task_complete, request_nurse_call.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Just-In-Time Context Injection (jitContext.ts): Memasukkan nama pasien, perawat pendamping, &amp; catatan klinis secara aman.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Strict Guardrails: Closed-world assumption, dilarang memberi saran medis/dosis obat.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Jawaban ringkas maksimal 1–2 kalimat siap dibacakan oleh mesin TTS.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9944" y="1828800"/>
            <a:ext cx="2377440" cy="256032"/>
          </a:xfrm>
          <a:prstGeom prst="round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4342C"/>
                </a:solidFill>
                <a:latin typeface="Public Sans"/>
              </a:defRPr>
            </a:pPr>
            <a:r>
              <a:t>02 / AI COMPANION (GEMINI)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3036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Dashboard &amp; Manajemen Konflik Jadwal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Mockup Mobile Shell berbingkai ponsel di atas dark workbench modern (#141820).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Deteksi Bentrok Jadwal Otomatis (TaskConflictSheet) dengan opsi geser jam atau nonaktifkan.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Verifikasi Laporan Pasien 1-Klik: Menyetujui klaim suara pasien menjadi status Selesai.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Audit Trail Lengkap: Riwayat perubahan status kegiatan &amp; transkrip percakapan AI harian.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06240"/>
            <a:ext cx="2377440" cy="256032"/>
          </a:xfrm>
          <a:prstGeom prst="round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4342C"/>
                </a:solidFill>
                <a:latin typeface="Public Sans"/>
              </a:defRPr>
            </a:pPr>
            <a:r>
              <a:t>03 / CAREGIVER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4069080"/>
            <a:ext cx="5230368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457200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Multi-Tenant &amp; Evaluasi Waktu Konsisten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Dukungan skenario 1 Perawat : 1 Pasien (suster.satu) &amp; 1 Perawat : Banyak Pasien (suster.banyak).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Sinkronisasi simulator &amp; dashboard instan saat berganti pasien via patient switcher.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Evaluasi Waktu Berbasis WIB (Asia/Jakarta): Custom SQL DATE parser mencegah pergeseran zona waktu.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Otomasi Status MISSED: Menandai tugas terlewat jika melewati jam mulai + durasi aktivitas.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9944" y="4206240"/>
            <a:ext cx="2560320" cy="256032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04 / MULTI-TENANT &amp; TIMEZONE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06 / ARSITEKTUR &amp; TEKNOLOGI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Technology &amp;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Arsitektur berlapis berstandar produksi dengan modul AI terisolasi dan orkestrasi Docker.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spcBef>
                <a:spcPts val="29500"/>
              </a:spcBef>
              <a:defRPr sz="850">
                <a:solidFill>
                  <a:srgbClr val="60746D"/>
                </a:solidFill>
                <a:latin typeface="Public Sans"/>
              </a:defRPr>
            </a:pPr>
            <a:r>
              <a:t>Arsitektur berlapis: Simulator 3D &amp; Frontend memanggil API Express berlapis, terhubung ke modul @narae/agent dan PostgreSQL 16.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2743200" cy="256032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DIAGRAM ARSITEKTUR END-TO-END</a:t>
            </a:r>
          </a:p>
        </p:txBody>
      </p:sp>
      <p:pic>
        <p:nvPicPr>
          <p:cNvPr id="8" name="Picture 7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5212080" cy="3291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91640"/>
            <a:ext cx="505937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Frontend &amp; 3D Engine</a:t>
            </a:r>
          </a:p>
          <a:p>
            <a:pPr>
              <a:spcBef>
                <a:spcPts val="100"/>
              </a:spcBef>
              <a:defRPr sz="950" b="1">
                <a:solidFill>
                  <a:srgbClr val="204A40"/>
                </a:solidFill>
                <a:latin typeface="Public Sans"/>
              </a:defRPr>
            </a:pPr>
            <a:r>
              <a:t>React 18 · TypeScript 5 · Vite 5 · Tailwind CSS v4 · Three.js r128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Mobile shell berbingkai HP, visualisasi 3D gelang prosedural, Web Speech API (STT &amp; TTS id-ID).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852928"/>
            <a:ext cx="505937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Backend API &amp; Logic</a:t>
            </a:r>
          </a:p>
          <a:p>
            <a:pPr>
              <a:spcBef>
                <a:spcPts val="100"/>
              </a:spcBef>
              <a:defRPr sz="950" b="1">
                <a:solidFill>
                  <a:srgbClr val="204A40"/>
                </a:solidFill>
                <a:latin typeface="Public Sans"/>
              </a:defRPr>
            </a:pPr>
            <a:r>
              <a:t>Node.js 20 · Express 4 · TypeScript 5 · pg (PostgreSQL Client)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Arsitektur 4-lapis bersih (Routes → Controllers → Services → Repositories). Raw SQL berparameter aman.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014216"/>
            <a:ext cx="505937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AI Agentic Package</a:t>
            </a:r>
          </a:p>
          <a:p>
            <a:pPr>
              <a:spcBef>
                <a:spcPts val="100"/>
              </a:spcBef>
              <a:defRPr sz="950" b="1">
                <a:solidFill>
                  <a:srgbClr val="204A40"/>
                </a:solidFill>
                <a:latin typeface="Public Sans"/>
              </a:defRPr>
            </a:pPr>
            <a:r>
              <a:t>Google Gemini SDK (@google/genai) · gemini-2.0-flash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Paket @narae/agent terisolasi dari database melalui AgentDataProvider. Function Calling loop (maks 4 ronde).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175504"/>
            <a:ext cx="505937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00" b="1">
                <a:solidFill>
                  <a:srgbClr val="14342C"/>
                </a:solidFill>
                <a:latin typeface="Public Sans"/>
              </a:defRPr>
            </a:pPr>
            <a:r>
              <a:t>Database &amp; Infrastructure</a:t>
            </a:r>
          </a:p>
          <a:p>
            <a:pPr>
              <a:spcBef>
                <a:spcPts val="100"/>
              </a:spcBef>
              <a:defRPr sz="950" b="1">
                <a:solidFill>
                  <a:srgbClr val="204A40"/>
                </a:solidFill>
                <a:latin typeface="Public Sans"/>
              </a:defRPr>
            </a:pPr>
            <a:r>
              <a:t>PostgreSQL 16 · Docker · Docker Compose · Timezone WIB</a:t>
            </a:r>
          </a:p>
          <a:p>
            <a:pPr>
              <a:spcBef>
                <a:spcPts val="2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Custom parser SQL DATE (mencegah bug zona waktu JS), audit trail historis, serta skrip otomatis db/init.sql.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07 / DAMPAK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Impact &amp; Future Vision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Dampak terukur pada kualitas hidup pasien &amp; caregiver, serta peta jalan pengembangan jangka panjang.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92424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38912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Kemandirian Pasien</a:t>
            </a:r>
          </a:p>
          <a:p>
            <a:pPr>
              <a:spcBef>
                <a:spcPts val="4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Membantu lansia menyelesaikan rutinitas harian secara mandiri melalui panduan suara empati tanpa takut lupa atau merasa dihakimi.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2194560" cy="237744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ENHANCING INDEPENDENCE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98264" y="1691640"/>
            <a:ext cx="3392424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38912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Efisiensi Caregiver</a:t>
            </a:r>
          </a:p>
          <a:p>
            <a:pPr>
              <a:spcBef>
                <a:spcPts val="4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Memangkas hingga 50-60% pengulangan instruksi manual harian dan mendeteksi jadwal obat terlewat secara otomatis.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81144" y="1828800"/>
            <a:ext cx="2194560" cy="237744"/>
          </a:xfrm>
          <a:prstGeom prst="roundRect">
            <a:avLst/>
          </a:prstGeom>
          <a:solidFill>
            <a:srgbClr val="F2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4342C"/>
                </a:solidFill>
                <a:latin typeface="Public Sans"/>
              </a:defRPr>
            </a:pPr>
            <a:r>
              <a:t>REDUCING CAREGIVER BURDEN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691640"/>
            <a:ext cx="3392424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438912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Ketenangan Keluarga</a:t>
            </a:r>
          </a:p>
          <a:p>
            <a:pPr>
              <a:spcBef>
                <a:spcPts val="400"/>
              </a:spcBef>
              <a:defRPr sz="950">
                <a:solidFill>
                  <a:srgbClr val="60746D"/>
                </a:solidFill>
                <a:latin typeface="Public Sans"/>
              </a:defRPr>
            </a:pPr>
            <a:r>
              <a:t>Memberikan kepastian dan visibilitas transparan kepada keluarga mengenai kondisi dan penyelesaian kegiatan orang tua mereka.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47888" y="1828800"/>
            <a:ext cx="2194560" cy="237744"/>
          </a:xfrm>
          <a:prstGeom prst="roundRect">
            <a:avLst/>
          </a:prstGeom>
          <a:solidFill>
            <a:srgbClr val="E2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>
              <a:defRPr sz="800" b="1">
                <a:solidFill>
                  <a:srgbClr val="184438"/>
                </a:solidFill>
                <a:latin typeface="Public Sans"/>
              </a:defRPr>
            </a:pPr>
            <a:r>
              <a:t>STRUCTURED FAMILY CARE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3392424" cy="242316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850" b="1">
                <a:solidFill>
                  <a:srgbClr val="2A7662"/>
                </a:solidFill>
                <a:latin typeface="Public Sans"/>
              </a:defRPr>
            </a:pPr>
            <a:r>
              <a:t>PHASE 1: HARDWARE MVP</a:t>
            </a:r>
          </a:p>
          <a:p>
            <a:pPr>
              <a:spcBef>
                <a:spcPts val="2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Integrasi Perangkat Keras Fisik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Implementasi mikrokontroler wearable nyata (ESP32 / RP2040).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Modul audio I2S, mikrofon terarah, dan motor getar haptik.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Casing silikon medis tahan percikan air ramah kulit lansia.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3886200"/>
            <a:ext cx="3392424" cy="242316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850" b="1">
                <a:solidFill>
                  <a:srgbClr val="2A7662"/>
                </a:solidFill>
                <a:latin typeface="Public Sans"/>
              </a:defRPr>
            </a:pPr>
            <a:r>
              <a:t>PHASE 2: PERSONALIZED VOICE</a:t>
            </a:r>
          </a:p>
          <a:p>
            <a:pPr>
              <a:spcBef>
                <a:spcPts val="2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Kloning Profil Suara Keluarga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Kloning suara anggota keluarga atau perawat tercinta (custom TTS).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Pengingat terdengar familiar dan hangat, meredakan kecemasan pasien.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Pengaturan nada bicara empati adaptif sesuai suasana hati lansia.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3886200"/>
            <a:ext cx="3392424" cy="2423160"/>
          </a:xfrm>
          <a:prstGeom prst="roundRect">
            <a:avLst/>
          </a:prstGeom>
          <a:solidFill>
            <a:srgbClr val="F2F7F4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>
              <a:defRPr sz="850" b="1">
                <a:solidFill>
                  <a:srgbClr val="2A7662"/>
                </a:solidFill>
                <a:latin typeface="Public Sans"/>
              </a:defRPr>
            </a:pPr>
            <a:r>
              <a:t>PHASE 3: SMART ECOSYSTEM</a:t>
            </a:r>
          </a:p>
          <a:p>
            <a:pPr>
              <a:spcBef>
                <a:spcPts val="200"/>
              </a:spcBef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Portal Keluarga &amp; Analitik Prediktif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Peluncuran aplikasi mobile khusus keluarga untuk pemantauan jarak jauh.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Analitik prediktif deteksi dini degradasi kognitif berbasis pola bicara.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Integrasi sistem rekam medis fasilitas kesehatan dan panti lansia.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C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2F1EA"/>
          </a:solidFill>
          <a:ln w="9525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18288"/>
          <a:lstStyle/>
          <a:p>
            <a:pPr algn="ctr">
              <a:defRPr sz="850" b="1">
                <a:solidFill>
                  <a:srgbClr val="184438"/>
                </a:solidFill>
                <a:latin typeface="Public Sans"/>
              </a:defRPr>
            </a:pPr>
            <a:r>
              <a:t>08 / TENTANG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47472"/>
            <a:ext cx="27733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0746D"/>
                </a:solidFill>
                <a:latin typeface="Public Sans"/>
              </a:defRPr>
            </a:pPr>
            <a:r>
              <a:t>NARAE · INCEPTION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94944"/>
            <a:ext cx="10789920" cy="868680"/>
          </a:xfrm>
          <a:prstGeom prst="rect">
            <a:avLst/>
          </a:prstGeom>
          <a:noFill/>
        </p:spPr>
        <p:txBody>
          <a:bodyPr wrap="square" lIns="45720" tIns="0" bIns="0">
            <a:spAutoFit/>
          </a:bodyPr>
          <a:lstStyle/>
          <a:p>
            <a:pPr>
              <a:defRPr sz="2300" b="1">
                <a:solidFill>
                  <a:srgbClr val="14342C"/>
                </a:solidFill>
                <a:latin typeface="Public Sans"/>
              </a:defRPr>
            </a:pPr>
            <a:r>
              <a:t>Meet the Team</a:t>
            </a:r>
          </a:p>
          <a:p>
            <a:pPr>
              <a:spcBef>
                <a:spcPts val="300"/>
              </a:spcBef>
              <a:defRPr sz="1100">
                <a:solidFill>
                  <a:srgbClr val="60746D"/>
                </a:solidFill>
                <a:latin typeface="Public Sans"/>
              </a:defRPr>
            </a:pPr>
            <a:r>
              <a:t>Kolaborasi multidisiplin Tim Mie Ayam Kopma di ajang Hacking Day INCEPTION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92424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0"/>
          <a:lstStyle/>
          <a:p>
            <a:pPr algn="ctr">
              <a:defRPr sz="850" b="1">
                <a:solidFill>
                  <a:srgbClr val="2A7662"/>
                </a:solidFill>
                <a:latin typeface="Public Sans"/>
              </a:defRPr>
            </a:pPr>
            <a:r>
              <a:t>KONTRIBUSI UTAMA :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Riset kebutuhan klinis penderita demensia tahap awal &amp; beban kerja perawat.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Perancangan sistem antarmuka dashboard mobile caregiver &amp; design token.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Konseptualisasi desain fisik tombol taktil gelang &amp; antarmuka simulator 3D.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Perancangan alur respon darurat dan identitas visual brand NARAE.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874520"/>
            <a:ext cx="594360" cy="594360"/>
          </a:xfrm>
          <a:prstGeom prst="ellipse">
            <a:avLst/>
          </a:prstGeom>
          <a:solidFill>
            <a:srgbClr val="E2F1EA"/>
          </a:solidFill>
          <a:ln w="12700">
            <a:solidFill>
              <a:srgbClr val="2A7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RR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856232"/>
            <a:ext cx="23317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Radhitya Rasta Pramoja</a:t>
            </a:r>
          </a:p>
          <a:p>
            <a:pPr>
              <a:spcBef>
                <a:spcPts val="200"/>
              </a:spcBef>
              <a:defRPr sz="900" b="1">
                <a:solidFill>
                  <a:srgbClr val="204A40"/>
                </a:solidFill>
                <a:latin typeface="Public Sans"/>
              </a:defRPr>
            </a:pPr>
            <a:r>
              <a:t>UI / UX Designer &amp; Product Strategy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8264" y="1691640"/>
            <a:ext cx="3392424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0"/>
          <a:lstStyle/>
          <a:p>
            <a:pPr algn="ctr">
              <a:defRPr sz="850" b="1">
                <a:solidFill>
                  <a:srgbClr val="2A7662"/>
                </a:solidFill>
                <a:latin typeface="Public Sans"/>
              </a:defRPr>
            </a:pPr>
            <a:r>
              <a:t>KONTRIBUSI UTAMA :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Pengembangan antarmuka web responsif React 18, TypeScript, &amp; Tailwind CSS v4.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Implementasi simulator gelang 3D prosedural menggunakan Three.js &amp; OrbitControls.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Integrasi Web Speech API (Speech-to-Text &amp; Text-to-Speech id-ID) pada gelang.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Implementasi layout split-screen terpadu dan switcher multi-pasien real-time.</a:t>
            </a:r>
          </a:p>
        </p:txBody>
      </p:sp>
      <p:sp>
        <p:nvSpPr>
          <p:cNvPr id="10" name="Oval 9"/>
          <p:cNvSpPr/>
          <p:nvPr/>
        </p:nvSpPr>
        <p:spPr>
          <a:xfrm>
            <a:off x="4626864" y="1874520"/>
            <a:ext cx="594360" cy="594360"/>
          </a:xfrm>
          <a:prstGeom prst="ellipse">
            <a:avLst/>
          </a:prstGeom>
          <a:solidFill>
            <a:srgbClr val="E2F1EA"/>
          </a:solidFill>
          <a:ln w="12700">
            <a:solidFill>
              <a:srgbClr val="2A7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2664" y="1856232"/>
            <a:ext cx="23317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Nicolaus Narindra</a:t>
            </a:r>
          </a:p>
          <a:p>
            <a:pPr>
              <a:spcBef>
                <a:spcPts val="200"/>
              </a:spcBef>
              <a:defRPr sz="900" b="1">
                <a:solidFill>
                  <a:srgbClr val="204A40"/>
                </a:solidFill>
                <a:latin typeface="Public Sans"/>
              </a:defRPr>
            </a:pPr>
            <a:r>
              <a:t>Front-End &amp; 3D Interactive Engineer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691640"/>
            <a:ext cx="3392424" cy="3703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0"/>
          <a:lstStyle/>
          <a:p>
            <a:pPr algn="ctr">
              <a:defRPr sz="850" b="1">
                <a:solidFill>
                  <a:srgbClr val="2A7662"/>
                </a:solidFill>
                <a:latin typeface="Public Sans"/>
              </a:defRPr>
            </a:pPr>
            <a:r>
              <a:t>KONTRIBUSI UTAMA :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Perancangan backend RESTful API berlapis dengan Node.js Express 4 &amp; TypeScript 5.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Integrasi AI Agent Google Gemini (@google/genai) dengan Function Calling 6 tools.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Perancangan skema database PostgreSQL 16 &amp; penanganan zona waktu WIB konsisten.</a:t>
            </a:r>
          </a:p>
          <a:p>
            <a:pPr>
              <a:spcBef>
                <a:spcPts val="300"/>
              </a:spcBef>
              <a:defRPr sz="880">
                <a:solidFill>
                  <a:srgbClr val="60746D"/>
                </a:solidFill>
                <a:latin typeface="Public Sans"/>
              </a:defRPr>
            </a:pPr>
            <a:r>
              <a:t>• Implementasi SLA auto-escalation darurat 10 detik &amp; penandaan status otomatis.</a:t>
            </a:r>
          </a:p>
        </p:txBody>
      </p:sp>
      <p:sp>
        <p:nvSpPr>
          <p:cNvPr id="13" name="Oval 12"/>
          <p:cNvSpPr/>
          <p:nvPr/>
        </p:nvSpPr>
        <p:spPr>
          <a:xfrm>
            <a:off x="8293608" y="1874520"/>
            <a:ext cx="594360" cy="594360"/>
          </a:xfrm>
          <a:prstGeom prst="ellipse">
            <a:avLst/>
          </a:prstGeom>
          <a:solidFill>
            <a:srgbClr val="E2F1EA"/>
          </a:solidFill>
          <a:ln w="12700">
            <a:solidFill>
              <a:srgbClr val="2A76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342C"/>
                </a:solidFill>
                <a:latin typeface="Public Sans"/>
              </a:defRPr>
            </a:pPr>
            <a:r>
              <a:t>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1856232"/>
            <a:ext cx="233172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4342C"/>
                </a:solidFill>
                <a:latin typeface="Public Sans"/>
              </a:defRPr>
            </a:pPr>
            <a:r>
              <a:t>Michael Bintang Febryan S.J</a:t>
            </a:r>
          </a:p>
          <a:p>
            <a:pPr>
              <a:spcBef>
                <a:spcPts val="200"/>
              </a:spcBef>
              <a:defRPr sz="900" b="1">
                <a:solidFill>
                  <a:srgbClr val="204A40"/>
                </a:solidFill>
                <a:latin typeface="Public Sans"/>
              </a:defRPr>
            </a:pPr>
            <a:r>
              <a:t>Back-End &amp; AI Systems Engineer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728655" cy="868680"/>
          </a:xfrm>
          <a:prstGeom prst="roundRect">
            <a:avLst/>
          </a:prstGeom>
          <a:solidFill>
            <a:srgbClr val="1434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28016"/>
          <a:lstStyle/>
          <a:p>
            <a:pPr algn="ctr">
              <a:defRPr sz="1300" b="1">
                <a:solidFill>
                  <a:srgbClr val="FFFFFF"/>
                </a:solidFill>
                <a:latin typeface="Public Sans"/>
              </a:defRPr>
            </a:pPr>
            <a:r>
              <a:t>“Together, let’s make independence possible, one little help at a time.”</a:t>
            </a:r>
          </a:p>
          <a:p>
            <a:pPr>
              <a:spcBef>
                <a:spcPts val="300"/>
              </a:spcBef>
              <a:defRPr sz="950" b="1">
                <a:solidFill>
                  <a:srgbClr val="B4DCD2"/>
                </a:solidFill>
                <a:latin typeface="Public Sans"/>
              </a:defRPr>
            </a:pPr>
            <a:r>
              <a:t>NARAE · INCEPTION 2026 · HACKING DAY 24 JAM · TIM MI AYAM KOPMA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